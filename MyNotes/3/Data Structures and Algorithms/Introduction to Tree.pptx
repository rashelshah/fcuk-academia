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0" r:id="rId6"/>
    <p:sldId id="262" r:id="rId7"/>
    <p:sldId id="272" r:id="rId8"/>
    <p:sldId id="270" r:id="rId9"/>
    <p:sldId id="271" r:id="rId10"/>
    <p:sldId id="273" r:id="rId11"/>
    <p:sldId id="265" r:id="rId12"/>
    <p:sldId id="274" r:id="rId13"/>
    <p:sldId id="267" r:id="rId14"/>
    <p:sldId id="268" r:id="rId15"/>
    <p:sldId id="269" r:id="rId16"/>
    <p:sldId id="276" r:id="rId17"/>
    <p:sldId id="277" r:id="rId18"/>
    <p:sldId id="275" r:id="rId19"/>
    <p:sldId id="263" r:id="rId20"/>
    <p:sldId id="264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761E-6301-7FE5-14E2-0550824FD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C9DF4-9320-93A9-D8CB-607D90BCE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308C-B62A-8A56-BD0A-0AB5B065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78FE4-B355-480E-52B0-FBEF9121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E10EE-B28B-C61A-D3E6-50BB84B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12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5B5A-0746-F1E1-DA96-8AEB03F49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41837-69AB-AF37-0409-2CEBD74A1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7EB15-8C08-AE89-91C9-89449402F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C54D2-5DA0-A647-E6DD-508A2B82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119A5-9B58-FBFD-64BD-CC205B02E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197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820C0-AEFC-1EDE-7427-C99ECAE7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CC4E7-3719-EA85-F05F-71C63750A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5C627-E8F0-A85A-7991-D90EB4E8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3F0B7-2988-5532-279F-03651007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DD2A3-848B-A386-4F5C-0B0C53322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11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E095-D6DF-F93D-F961-D9AEEFC24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9ED43-0A1A-8168-43AD-4E1549D000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BF5A98-C345-9495-F257-E29DDF668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605A5-2635-AEEA-BA67-788405FA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CB315-4375-9E00-5F89-49664F5D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9C6E6-337C-638D-B789-78347650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92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94DE-08DC-5641-9EC4-2297E8A3E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6AD85-AAF8-A9F7-B0B5-88321D558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D4AF8-7DA2-7247-98FA-D6990A44E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A680C-EBDF-9953-6C40-ED550FF3E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EBC4E-CCF5-F0F4-E4C2-F55D305016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04C5C-F9D5-EE2B-84E8-58496C1C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23F8FD-A547-AA21-3C78-14F6985F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316A2-7A30-B25B-2045-1890349E8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58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4E994-43AA-6026-1353-98D44E6E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777C74-0375-2B6F-E88C-C6E0E044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A9C88-1B11-E3EA-0FCC-F967E9D3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F6B0D-20DF-1804-4AE8-3716D076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47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554B4-473C-3B6C-7BEC-A2394ADA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0A58D-F24F-549A-EC0D-A14B8173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7CA16-603D-268E-1F9E-673C0CC2D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20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C68E-47E5-1D53-99BB-FD7EC64B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74999-0A0A-D4BE-5583-EEFFEF730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8D555-9456-0F1E-37AF-9B24FBBCE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7754F-0C64-77A9-FED6-288BB814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65042-0E12-7371-F514-F430FAA4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44FEC-D676-1F49-75F5-3A2A63DA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7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BD4E-93EC-B878-6B15-53A69BCBF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2EED0D-C367-AE3D-E212-516A168BC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0A886-A304-9D37-B100-28DE099B4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74042-F0DC-E3FA-884D-2B012B20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25F25-5D3B-ED7F-D67E-7DC6EC2E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DA25D-2FB8-8F1A-F05E-413C5696D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02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102C3-7302-F014-88DB-45261A5CC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742CD-6707-70C2-893F-6B5199B62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5F8D0-F0E5-331A-5348-B2AAABFA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9089-B4DA-F624-8B92-0F506FAD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A0319-B781-5E4F-E1B4-B1958A9E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1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21A81C-D1F0-ECB4-381A-226B83EBB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3E34A-8B05-0893-B0B6-98CB4A436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B7AFC-AC97-770D-7DD2-6242833E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0DACF-C442-5CBE-CB28-629E56BE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ABFDE-7B4C-C202-33CA-4EBC17A2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6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FCA85-917C-392D-AE16-B56E11A54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F6797-B3B4-9CEE-230D-088D01641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604AF-F29D-C272-32A4-722034A0E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A3B24-4F45-40A8-8708-3F2A21F32128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AD331-7E9A-9D4D-6915-306AA3A99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9173F-F61F-932A-7191-F981D3D0E5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AA63B-2832-4FF7-960F-2EA438165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8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9137-1460-26D1-5EF6-A7624044D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UNIT 4: INTRODUCTION TO TREE,TREE TRAVERSAL, BINARY SEARCH TREE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99C82-14B5-0373-62F6-664BE5BAF9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922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628E-5323-FEC0-36C3-494552467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Tree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F43D3-2F48-59E3-9626-B8EA1F9C8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tree is a non-linear abstract data type with a hierarchy-based structure.</a:t>
            </a:r>
          </a:p>
          <a:p>
            <a:r>
              <a:rPr lang="en-GB" dirty="0"/>
              <a:t> It consists of nodes (where the data is stored) that are connected via links. </a:t>
            </a:r>
          </a:p>
          <a:p>
            <a:r>
              <a:rPr lang="en-GB" dirty="0"/>
              <a:t>The tree data structure stems from a single node called a root node and has subtrees connected to the root.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51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9AA9-D267-34B6-E5E3-6FE44768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TREES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C75776-44B0-09F0-308D-DCDEC53AD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432" y="1494084"/>
            <a:ext cx="7860423" cy="4266327"/>
          </a:xfrm>
        </p:spPr>
      </p:pic>
    </p:spTree>
    <p:extLst>
      <p:ext uri="{BB962C8B-B14F-4D97-AF65-F5344CB8AC3E}">
        <p14:creationId xmlns:p14="http://schemas.microsoft.com/office/powerpoint/2010/main" val="1431092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4114B-961D-E04F-752D-6CB6ECBE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C4991-06E4-D235-34A9-D5AE652E8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Path</a:t>
            </a:r>
            <a:r>
              <a:rPr lang="en-GB" dirty="0"/>
              <a:t> − Path refers to the sequence of nodes along the edges of a tree.</a:t>
            </a:r>
          </a:p>
          <a:p>
            <a:r>
              <a:rPr lang="en-GB" b="1" dirty="0"/>
              <a:t>Root</a:t>
            </a:r>
            <a:r>
              <a:rPr lang="en-GB" dirty="0"/>
              <a:t> − The node at the top of the tree is called root. There is only one root per tree and one path from the root node to any node.</a:t>
            </a:r>
          </a:p>
          <a:p>
            <a:r>
              <a:rPr lang="en-GB" b="1" dirty="0"/>
              <a:t>Parent</a:t>
            </a:r>
            <a:r>
              <a:rPr lang="en-GB" dirty="0"/>
              <a:t> − Any node except the root node has one edge upward to a node called parent (</a:t>
            </a:r>
            <a:r>
              <a:rPr lang="en-GB" b="1" dirty="0"/>
              <a:t>internal node</a:t>
            </a:r>
            <a:r>
              <a:rPr lang="en-GB" dirty="0"/>
              <a:t>).</a:t>
            </a:r>
          </a:p>
          <a:p>
            <a:r>
              <a:rPr lang="en-GB" b="1" dirty="0"/>
              <a:t>Child</a:t>
            </a:r>
            <a:r>
              <a:rPr lang="en-GB" dirty="0"/>
              <a:t> − The node below a given node connected by its edge downward is called its child node.</a:t>
            </a:r>
          </a:p>
          <a:p>
            <a:r>
              <a:rPr lang="en-GB" b="1" dirty="0"/>
              <a:t>Leaf</a:t>
            </a:r>
            <a:r>
              <a:rPr lang="en-GB" dirty="0"/>
              <a:t> − The node which does not have any child node is called the leaf node(</a:t>
            </a:r>
            <a:r>
              <a:rPr lang="en-GB" b="1" dirty="0"/>
              <a:t>external node</a:t>
            </a:r>
            <a:r>
              <a:rPr lang="en-GB" dirty="0"/>
              <a:t>).</a:t>
            </a:r>
          </a:p>
          <a:p>
            <a:endParaRPr lang="en-GB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751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C590-3E5F-6B65-F6C0-00E1BB2D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8939-C8E4-4D0B-D971-A997276F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Subtree</a:t>
            </a:r>
            <a:r>
              <a:rPr lang="en-GB" dirty="0"/>
              <a:t> − Subtree represents the descendants of a node.</a:t>
            </a:r>
          </a:p>
          <a:p>
            <a:r>
              <a:rPr lang="en-GB" b="1" dirty="0"/>
              <a:t>Traversing</a:t>
            </a:r>
            <a:r>
              <a:rPr lang="en-GB" dirty="0"/>
              <a:t> − Traversing means passing through nodes in a specific order.</a:t>
            </a:r>
          </a:p>
          <a:p>
            <a:r>
              <a:rPr lang="en-GB" b="1" dirty="0"/>
              <a:t>Levels</a:t>
            </a:r>
            <a:r>
              <a:rPr lang="en-GB" dirty="0"/>
              <a:t> − Level of a node represents the generation of a node. If the root node is at level 0, then its next child node is at level 1, its grandchild is at level 2, and so on.</a:t>
            </a:r>
          </a:p>
          <a:p>
            <a:r>
              <a:rPr lang="en-GB" b="1" dirty="0"/>
              <a:t>Depth</a:t>
            </a:r>
            <a:r>
              <a:rPr lang="en-GB" dirty="0"/>
              <a:t> – The depth of a node is the number of edges present in path from the root node of a tree to that node.</a:t>
            </a:r>
          </a:p>
          <a:p>
            <a:r>
              <a:rPr lang="en-GB" b="1" dirty="0"/>
              <a:t>Height</a:t>
            </a:r>
            <a:r>
              <a:rPr lang="en-GB" dirty="0"/>
              <a:t> - The height of a node is the maximum number of edges from that node to a leaf node in its subtree.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7198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D7AB0-A1AE-CE30-920D-D781433B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28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Binary Trees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7F46E-3460-14EF-A0BD-45E155B3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414"/>
            <a:ext cx="10515600" cy="4994549"/>
          </a:xfrm>
        </p:spPr>
        <p:txBody>
          <a:bodyPr>
            <a:normAutofit/>
          </a:bodyPr>
          <a:lstStyle/>
          <a:p>
            <a:r>
              <a:rPr lang="en-GB" dirty="0"/>
              <a:t>A binary tree is a hierarchical data structure where each node has at most two children, referred to as the left child and the right child. </a:t>
            </a:r>
          </a:p>
          <a:p>
            <a:r>
              <a:rPr lang="en-GB" dirty="0"/>
              <a:t>It is a fundamental type of tree data structure used for organizing and storing data efficiently. </a:t>
            </a:r>
          </a:p>
          <a:p>
            <a:endParaRPr lang="en-GB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807A0-0520-7CBE-7788-059CD05774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25" y="3317968"/>
            <a:ext cx="3263462" cy="298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496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34FEF-78F4-405A-AD76-9113D7CF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tree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C75A7-2582-D532-B3B0-7CD880DB8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Based on the number of children, binary trees are divided into three types:</a:t>
            </a:r>
          </a:p>
          <a:p>
            <a:r>
              <a:rPr lang="en-GB" b="1" dirty="0"/>
              <a:t>Full Binary Tree: </a:t>
            </a:r>
            <a:r>
              <a:rPr lang="en-GB" dirty="0"/>
              <a:t>A full binary tree is a binary tree type where every node has either 0 or 2 child nodes.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7213B-C138-6510-65F1-774895323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692" y="3649388"/>
            <a:ext cx="28575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34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1F748-A7AD-AA69-F7D6-C3B0B3FE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tree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6A41A-923A-4127-190C-2EB5EFDF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b="1" dirty="0"/>
              <a:t>Complete Binary Tree: </a:t>
            </a:r>
            <a:r>
              <a:rPr lang="en-GB" dirty="0"/>
              <a:t>A complete binary tree is a special type of binary tree where all the levels of the tree are filled completely except the lowest level nodes which are filled from as left as possible.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E57167-2794-553B-B31C-1A873B82D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374" y="3760075"/>
            <a:ext cx="28575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0461-CC81-7727-74AE-71B8F1E9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tree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51473-5F4D-5FA9-24C6-EFC206F0D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Perfect Binary Tree: </a:t>
            </a:r>
            <a:r>
              <a:rPr lang="en-GB" dirty="0"/>
              <a:t>A perfect binary tree is a binary tree type where all the leaf nodes are on the same level and every node except leaf nodes have 2 children.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E8805B-9D0D-787E-1197-6772E18DB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897" y="2943962"/>
            <a:ext cx="6069724" cy="323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63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F85897-DB82-3D78-BD33-68BDD695C16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897" y="254767"/>
            <a:ext cx="8702675" cy="5811838"/>
          </a:xfrm>
        </p:spPr>
      </p:pic>
    </p:spTree>
    <p:extLst>
      <p:ext uri="{BB962C8B-B14F-4D97-AF65-F5344CB8AC3E}">
        <p14:creationId xmlns:p14="http://schemas.microsoft.com/office/powerpoint/2010/main" val="1035225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FC7D-F009-B936-ECD1-B3493EC13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 traversal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C135-F70F-9D95-B10B-546B3F3D6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Tree traversal refers to the process of visiting or accessing each node of a tree exactly once in a specific order.</a:t>
            </a:r>
          </a:p>
          <a:p>
            <a:r>
              <a:rPr lang="en-GB" dirty="0"/>
              <a:t>Because, all nodes are connected via edges (links) we always start from the root (head) node. </a:t>
            </a:r>
          </a:p>
          <a:p>
            <a:r>
              <a:rPr lang="en-GB" dirty="0"/>
              <a:t>Tree traversals are broadly classified into two categories:</a:t>
            </a:r>
          </a:p>
          <a:p>
            <a:r>
              <a:rPr lang="en-GB" dirty="0"/>
              <a:t>Depth First Search (DFS)</a:t>
            </a:r>
          </a:p>
          <a:p>
            <a:r>
              <a:rPr lang="en-GB" dirty="0"/>
              <a:t>Breadth First Search (BFS)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555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AA96-466E-F945-9171-25FB8D85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 traversal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0BD24-A2ED-84CB-3332-7F497AC42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Depth First Search (DFS)</a:t>
            </a:r>
          </a:p>
          <a:p>
            <a:pPr fontAlgn="base"/>
            <a:r>
              <a:rPr lang="en-GB" dirty="0"/>
              <a:t>Explores as far as possible along a branch before exploring the next branch.</a:t>
            </a:r>
          </a:p>
          <a:p>
            <a:pPr fontAlgn="base"/>
            <a:r>
              <a:rPr lang="en-GB" dirty="0"/>
              <a:t>Types: In-order, Pre-order, Post-order</a:t>
            </a:r>
          </a:p>
          <a:p>
            <a:pPr fontAlgn="base"/>
            <a:r>
              <a:rPr lang="en-GB" b="1" dirty="0"/>
              <a:t>Breadth First Search (BFS)</a:t>
            </a:r>
          </a:p>
          <a:p>
            <a:pPr fontAlgn="base"/>
            <a:r>
              <a:rPr lang="en-GB" dirty="0"/>
              <a:t>Explores nodes level by level from top to bottom.</a:t>
            </a:r>
          </a:p>
          <a:p>
            <a:pPr fontAlgn="base"/>
            <a:r>
              <a:rPr lang="en-GB" dirty="0"/>
              <a:t>Type: Level Order Traversal.</a:t>
            </a:r>
          </a:p>
          <a:p>
            <a:pPr fontAlgn="base"/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807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5495-9A79-24A7-2B67-DD169252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In-order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F5AEE-F28F-7F5E-A8B1-C5FB3CAC3C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In this traversal method, the left subtree is visited first, then the root and later the right sub-tree. We should always remember that every node may represent a subtree itself.</a:t>
            </a:r>
          </a:p>
          <a:p>
            <a:r>
              <a:rPr lang="en-GB" dirty="0"/>
              <a:t>If a binary tree is traversed </a:t>
            </a:r>
            <a:r>
              <a:rPr lang="en-GB" b="1" dirty="0"/>
              <a:t>in-order</a:t>
            </a:r>
            <a:r>
              <a:rPr lang="en-GB" dirty="0"/>
              <a:t>, the output will produce sorted key values in an ascending order.</a:t>
            </a:r>
          </a:p>
          <a:p>
            <a:r>
              <a:rPr lang="en-GB" dirty="0"/>
              <a:t>We start from </a:t>
            </a:r>
            <a:r>
              <a:rPr lang="en-GB" b="1" dirty="0"/>
              <a:t>A</a:t>
            </a:r>
            <a:r>
              <a:rPr lang="en-GB" dirty="0"/>
              <a:t>, and following in-order traversal, we move to its left subtree </a:t>
            </a:r>
            <a:r>
              <a:rPr lang="en-GB" b="1" dirty="0"/>
              <a:t>B</a:t>
            </a:r>
            <a:r>
              <a:rPr lang="en-GB" dirty="0"/>
              <a:t>.</a:t>
            </a:r>
            <a:r>
              <a:rPr lang="en-GB" b="1" dirty="0"/>
              <a:t>B</a:t>
            </a:r>
            <a:r>
              <a:rPr lang="en-GB" dirty="0"/>
              <a:t> is also traversed in-order. The process goes on until all the nodes are visited. The output of in-order traversal of this tree will be       </a:t>
            </a:r>
            <a:r>
              <a:rPr lang="pt-BR" b="1" dirty="0"/>
              <a:t>D B E A F C G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11FDB2-A222-0B16-A42D-342610B50E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288" y="796413"/>
            <a:ext cx="5633469" cy="5161935"/>
          </a:xfrm>
        </p:spPr>
      </p:pic>
    </p:spTree>
    <p:extLst>
      <p:ext uri="{BB962C8B-B14F-4D97-AF65-F5344CB8AC3E}">
        <p14:creationId xmlns:p14="http://schemas.microsoft.com/office/powerpoint/2010/main" val="3226925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D673-3DD3-CAD2-BB18-E3342FE2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Pre-order Traversal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F248A-4A34-7358-CB49-3D285BB5AF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 this traversal method, the root node is visited first, then the left subtree and finally the right subtree.</a:t>
            </a:r>
          </a:p>
          <a:p>
            <a:r>
              <a:rPr lang="en-GB" dirty="0"/>
              <a:t>We start from </a:t>
            </a:r>
            <a:r>
              <a:rPr lang="en-GB" b="1" dirty="0"/>
              <a:t>A</a:t>
            </a:r>
            <a:r>
              <a:rPr lang="en-GB" dirty="0"/>
              <a:t>, and following pre-order traversal, we first visit </a:t>
            </a:r>
            <a:r>
              <a:rPr lang="en-GB" b="1" dirty="0"/>
              <a:t>A</a:t>
            </a:r>
            <a:r>
              <a:rPr lang="en-GB" dirty="0"/>
              <a:t> itself and then move to its left subtree </a:t>
            </a:r>
            <a:r>
              <a:rPr lang="en-GB" b="1" dirty="0"/>
              <a:t>B</a:t>
            </a:r>
            <a:r>
              <a:rPr lang="en-GB" dirty="0"/>
              <a:t>. </a:t>
            </a:r>
            <a:r>
              <a:rPr lang="en-GB" b="1" dirty="0"/>
              <a:t>B</a:t>
            </a:r>
            <a:r>
              <a:rPr lang="en-GB" dirty="0"/>
              <a:t> is also traversed pre-order. The process goes on until all the nodes are visited. The output of pre-order traversal of this tree will be −</a:t>
            </a:r>
          </a:p>
          <a:p>
            <a:r>
              <a:rPr lang="en-GB" b="1" dirty="0"/>
              <a:t>A → B → D → E → C → F → G</a:t>
            </a:r>
            <a:endParaRPr lang="en-GB" dirty="0"/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36A551-447C-E565-6003-69703103D9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523" y="1371600"/>
            <a:ext cx="5354766" cy="4351338"/>
          </a:xfrm>
        </p:spPr>
      </p:pic>
    </p:spTree>
    <p:extLst>
      <p:ext uri="{BB962C8B-B14F-4D97-AF65-F5344CB8AC3E}">
        <p14:creationId xmlns:p14="http://schemas.microsoft.com/office/powerpoint/2010/main" val="323161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B488-A286-A06B-8A47-E38AB1727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Post-order Traversal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56CC2-E89E-F750-6BDB-F58E2E058A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In this traversal method, the root node is visited last, hence the name. First we traverse the left subtree, then the right subtree and finally the root node.</a:t>
            </a:r>
          </a:p>
          <a:p>
            <a:r>
              <a:rPr lang="en-GB" dirty="0"/>
              <a:t>We start from </a:t>
            </a:r>
            <a:r>
              <a:rPr lang="en-GB" b="1" dirty="0"/>
              <a:t>A</a:t>
            </a:r>
            <a:r>
              <a:rPr lang="en-GB" dirty="0"/>
              <a:t>, and following pre-order traversal, we first visit the left subtree </a:t>
            </a:r>
            <a:r>
              <a:rPr lang="en-GB" b="1" dirty="0"/>
              <a:t>B</a:t>
            </a:r>
            <a:r>
              <a:rPr lang="en-GB" dirty="0"/>
              <a:t>. </a:t>
            </a:r>
            <a:r>
              <a:rPr lang="en-GB" b="1" dirty="0"/>
              <a:t>B</a:t>
            </a:r>
            <a:r>
              <a:rPr lang="en-GB" dirty="0"/>
              <a:t> is also traversed post-order. The process goes on until all the nodes are visited. The output of post-order traversal of this tree will be</a:t>
            </a:r>
          </a:p>
          <a:p>
            <a:r>
              <a:rPr lang="en-GB" b="1" dirty="0"/>
              <a:t>D → E → B → F → G → C → A</a:t>
            </a:r>
            <a:endParaRPr lang="en-GB" dirty="0"/>
          </a:p>
          <a:p>
            <a:endParaRPr lang="en-GB" dirty="0"/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78F112-1558-56B4-67D4-A5E6E293F3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099" y="1187245"/>
            <a:ext cx="4020933" cy="4483509"/>
          </a:xfrm>
        </p:spPr>
      </p:pic>
    </p:spTree>
    <p:extLst>
      <p:ext uri="{BB962C8B-B14F-4D97-AF65-F5344CB8AC3E}">
        <p14:creationId xmlns:p14="http://schemas.microsoft.com/office/powerpoint/2010/main" val="337189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13C3B-36D0-C94F-5701-8850449FB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Level-order traversal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EA0BA-E679-6BE8-50F2-209DC704C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Level Order Traversal technique is a method to traverse a Tree such that all nodes present in the same level are traversed completely before traversing the next level.</a:t>
            </a:r>
          </a:p>
          <a:p>
            <a:endParaRPr lang="en-GB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EB8A5-E35C-EB0C-71D7-96E35E061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142" y="3296471"/>
            <a:ext cx="395287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79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7D60-5CD1-234D-07AD-EEAED1452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Level-order traversal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455A5B-D3FE-1D13-91F8-CF8D2930A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i="1" dirty="0"/>
              <a:t>Explanation: </a:t>
            </a:r>
            <a:r>
              <a:rPr lang="en-GB" i="1" dirty="0"/>
              <a:t>Start with the root → [5]</a:t>
            </a:r>
            <a:br>
              <a:rPr lang="en-GB" dirty="0"/>
            </a:br>
            <a:r>
              <a:rPr lang="en-GB" b="1" i="1" dirty="0"/>
              <a:t>Level 1:</a:t>
            </a:r>
            <a:r>
              <a:rPr lang="en-GB" i="1" dirty="0"/>
              <a:t> Visit its children → [12, 13]</a:t>
            </a:r>
            <a:br>
              <a:rPr lang="en-GB" dirty="0"/>
            </a:br>
            <a:r>
              <a:rPr lang="en-GB" b="1" i="1" dirty="0"/>
              <a:t>Level 2:</a:t>
            </a:r>
            <a:r>
              <a:rPr lang="en-GB" i="1" dirty="0"/>
              <a:t> Visit children of 12 and 13 → [7, 14, 2]</a:t>
            </a:r>
            <a:br>
              <a:rPr lang="en-GB" dirty="0"/>
            </a:br>
            <a:r>
              <a:rPr lang="en-GB" b="1" i="1" dirty="0"/>
              <a:t>Level 3:</a:t>
            </a:r>
            <a:r>
              <a:rPr lang="en-GB" i="1" dirty="0"/>
              <a:t> Visit children of 7,14 and 2→ [17, 23, 27, 3, 8, 11]</a:t>
            </a:r>
          </a:p>
          <a:p>
            <a:r>
              <a:rPr lang="en-GB" b="1" i="1" dirty="0"/>
              <a:t>Output:</a:t>
            </a:r>
            <a:r>
              <a:rPr lang="en-GB" i="1" dirty="0"/>
              <a:t> [[5], [12, 13], [7, 14, 2], [17, 23, 27, 3, 8, 11]]</a:t>
            </a:r>
            <a:br>
              <a:rPr lang="en-GB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894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D9C1-0A46-9412-5C76-D31441D9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8365"/>
          </a:xfrm>
        </p:spPr>
        <p:txBody>
          <a:bodyPr/>
          <a:lstStyle/>
          <a:p>
            <a:r>
              <a:rPr lang="en-GB" dirty="0"/>
              <a:t>Tree Traversal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353D64-0078-A003-7310-9AEBFC0FA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9" y="1750054"/>
            <a:ext cx="9485640" cy="4742821"/>
          </a:xfrm>
        </p:spPr>
      </p:pic>
    </p:spTree>
    <p:extLst>
      <p:ext uri="{BB962C8B-B14F-4D97-AF65-F5344CB8AC3E}">
        <p14:creationId xmlns:p14="http://schemas.microsoft.com/office/powerpoint/2010/main" val="258528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B403-36BF-3851-2EE5-29CE69BD1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Binary Search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D5E20-081D-1BA6-CFFD-0E9578373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 </a:t>
            </a:r>
            <a:r>
              <a:rPr lang="en-GB" b="1" dirty="0"/>
              <a:t>Binary Search Tree (BST)</a:t>
            </a:r>
            <a:r>
              <a:rPr lang="en-GB" dirty="0"/>
              <a:t> is a data structure that stores elements in a hierarchical, tree-like manner, where each node has at most two children. </a:t>
            </a:r>
          </a:p>
          <a:p>
            <a:r>
              <a:rPr lang="en-GB" dirty="0"/>
              <a:t>The defining property of a BST is its ordering: for any given node, all values in its left subtree are </a:t>
            </a:r>
            <a:r>
              <a:rPr lang="en-GB" b="1" i="1" dirty="0"/>
              <a:t>less</a:t>
            </a:r>
            <a:r>
              <a:rPr lang="en-GB" dirty="0"/>
              <a:t> than the node's value, and all values in its right subtree are </a:t>
            </a:r>
            <a:r>
              <a:rPr lang="en-GB" b="1" i="1" dirty="0"/>
              <a:t>greater</a:t>
            </a:r>
            <a:r>
              <a:rPr lang="en-GB" dirty="0"/>
              <a:t> than the node's value. </a:t>
            </a:r>
          </a:p>
          <a:p>
            <a:r>
              <a:rPr lang="en-GB" dirty="0"/>
              <a:t>This ordered structure allows for efficient search, insertion, and deletion operations.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844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BA72C-46EC-A9B9-F4B8-994F42C3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BST Example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D24D28-7E2A-3F51-072D-4B6ECFD42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806" y="1437909"/>
            <a:ext cx="7905135" cy="4684003"/>
          </a:xfrm>
        </p:spPr>
      </p:pic>
    </p:spTree>
    <p:extLst>
      <p:ext uri="{BB962C8B-B14F-4D97-AF65-F5344CB8AC3E}">
        <p14:creationId xmlns:p14="http://schemas.microsoft.com/office/powerpoint/2010/main" val="1243713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9ABA-EB34-650A-E51F-B9A7D743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Operations in Binary Search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8862-C88C-A78C-0458-4E2715812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Insertion</a:t>
            </a:r>
          </a:p>
          <a:p>
            <a:r>
              <a:rPr lang="en-GB" b="1" dirty="0"/>
              <a:t>Searching</a:t>
            </a:r>
          </a:p>
          <a:p>
            <a:r>
              <a:rPr lang="en-GB" b="1" dirty="0"/>
              <a:t>Deletion</a:t>
            </a:r>
          </a:p>
          <a:p>
            <a:pPr marL="0" indent="0">
              <a:buNone/>
            </a:pPr>
            <a:r>
              <a:rPr lang="en-GB" b="1" dirty="0"/>
              <a:t>Case 1: Node has no children (leaf node): </a:t>
            </a:r>
            <a:r>
              <a:rPr lang="en-GB" dirty="0"/>
              <a:t>Simply remove the node.</a:t>
            </a:r>
          </a:p>
          <a:p>
            <a:pPr marL="0" indent="0">
              <a:buNone/>
            </a:pPr>
            <a:r>
              <a:rPr lang="en-GB" b="1" dirty="0"/>
              <a:t>Case 2: Node has one child:</a:t>
            </a:r>
            <a:r>
              <a:rPr lang="en-GB" dirty="0"/>
              <a:t> Replace the node with its single child.</a:t>
            </a:r>
          </a:p>
          <a:p>
            <a:pPr marL="0" indent="0">
              <a:buNone/>
            </a:pPr>
            <a:r>
              <a:rPr lang="en-GB" b="1" dirty="0"/>
              <a:t>Case 3: Node has two children:</a:t>
            </a:r>
            <a:r>
              <a:rPr lang="en-GB" dirty="0"/>
              <a:t> Find the in-order successor (the smallest node in the right subtree) or in-order predecessor (the largest node in the left subtree) of the node to be deleted. Replace the deleted node's value with the successor/predecessor's value, and then delete the successor/predecessor node</a:t>
            </a:r>
          </a:p>
          <a:p>
            <a:r>
              <a:rPr lang="en-GB" b="1" dirty="0"/>
              <a:t>Traversal</a:t>
            </a:r>
          </a:p>
          <a:p>
            <a:r>
              <a:rPr lang="en-GB" b="1" dirty="0"/>
              <a:t>Minimum/Maximum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1767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1202</Words>
  <Application>Microsoft Office PowerPoint</Application>
  <PresentationFormat>Widescreen</PresentationFormat>
  <Paragraphs>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UNIT 4: INTRODUCTION TO TREE,TREE TRAVERSAL, BINARY SEARCH TREE</vt:lpstr>
      <vt:lpstr>Tree data structure</vt:lpstr>
      <vt:lpstr>INTRODUCTION TO TREES</vt:lpstr>
      <vt:lpstr>Key concepts</vt:lpstr>
      <vt:lpstr>Key Concepts</vt:lpstr>
      <vt:lpstr>Binary Trees </vt:lpstr>
      <vt:lpstr>Binary tree types</vt:lpstr>
      <vt:lpstr>Binary tree types</vt:lpstr>
      <vt:lpstr>Binary tree types</vt:lpstr>
      <vt:lpstr>PowerPoint Presentation</vt:lpstr>
      <vt:lpstr>Tree traversal</vt:lpstr>
      <vt:lpstr>Tree traversal</vt:lpstr>
      <vt:lpstr>In-order Traversal</vt:lpstr>
      <vt:lpstr>Pre-order Traversal </vt:lpstr>
      <vt:lpstr>Post-order Traversal </vt:lpstr>
      <vt:lpstr>Level-order traversal</vt:lpstr>
      <vt:lpstr>Level-order traversal</vt:lpstr>
      <vt:lpstr>Tree Traversal</vt:lpstr>
      <vt:lpstr>Binary Search Tree</vt:lpstr>
      <vt:lpstr>BST Example</vt:lpstr>
      <vt:lpstr>Operations in Binary Search Tree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Priyadharshini B</dc:creator>
  <cp:lastModifiedBy>Priyadharshini B</cp:lastModifiedBy>
  <cp:revision>15</cp:revision>
  <dcterms:created xsi:type="dcterms:W3CDTF">2025-09-21T09:59:50Z</dcterms:created>
  <dcterms:modified xsi:type="dcterms:W3CDTF">2025-10-07T16:01:13Z</dcterms:modified>
</cp:coreProperties>
</file>